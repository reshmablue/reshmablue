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Albert Sans Light"/>
      <p:regular r:id="rId201314"/>
    </p:embeddedFont>
    <p:embeddedFont>
      <p:font typeface="Host Grotesk"/>
      <p:regular r:id="rId201315"/>
    </p:embeddedFont>
    <p:embeddedFont>
      <p:font typeface="Host Grotesk Medium"/>
      <p:regular r:id="rId201316"/>
    </p:embeddedFont>
    <p:embeddedFont>
      <p:font typeface="Host Grotesk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Saathi as a practical companion for the small shops that serve everyday life. The name means a helpful companion, and that is the feeling the product should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experience in the order it happens: the shopkeeper adds the products, speaks in the language that feels natural, and receives a clear explanation of what needs attention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shopkeeper only sends one short daily message. Saathi then tracks today’s sales and revenue, warns about low stock so refills happen in time, reminds the shop before items expire, and shows monthly sales and profit or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language layer: Gemma supplies the language intelligence. The Gemini API is the hosted interface the application uses to call Gemma during development and prototyping. The API key authenticates those requests, so it is created or managed in Google AI Studio and kept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Saathi keeps the shopkeeper in charge: simple conversations replace forms, and the app speaks the shopkeeper's own language. Fewer missed sales and less expiry waste are the goals. The next step is a pilot with a local daily-goods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Gemma as the AI model that understands shopkeeper messages and writes replies. The Gemini API connects the chatbot to Gemma. The API key proves the app may make these requests, so it must be kept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0383" y="678854"/>
            <a:ext cx="10870928" cy="455116"/>
          </a:xfrm>
          <a:prstGeom prst="rect">
            <a:avLst/>
          </a:prstGeom>
          <a:noFill/>
          <a:ln/>
        </p:spPr>
        <p:txBody>
          <a:bodyPr wrap="none" lIns="0" tIns="0" rIns="0" bIns="0" rtlCol="0" anchor="t"/>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Team Members</a:t>
            </a:r>
            <a:endParaRPr lang="en-US" sz="3200" dirty="0"/>
          </a:p>
        </p:txBody>
      </p:sp>
      <p:sp>
        <p:nvSpPr>
          <p:cNvPr id="3" name="Text 1"/>
          <p:cNvSpPr/>
          <p:nvPr/>
        </p:nvSpPr>
        <p:spPr>
          <a:xfrm>
            <a:off x="660383" y="1286966"/>
            <a:ext cx="10870928" cy="1420515"/>
          </a:xfrm>
          <a:prstGeom prst="rect">
            <a:avLst/>
          </a:prstGeom>
          <a:noFill/>
          <a:ln/>
        </p:spPr>
        <p:txBody>
          <a:bodyPr wrap="square" lIns="0" tIns="0" rIns="0" bIns="0" rtlCol="0" anchor="t">
            <a:normAutofit/>
          </a:bodyPr>
          <a:lstStyle/>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SK. Reshma</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CH. Keerthi Supriya</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V. Ishwarya</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P. Anitha</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SK. Rukhaya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02</a:t>
            </a:r>
            <a:endParaRPr lang="en-US" sz="1000" dirty="0"/>
          </a:p>
        </p:txBody>
      </p:sp>
      <p:sp>
        <p:nvSpPr>
          <p:cNvPr id="3" name="Text 1"/>
          <p:cNvSpPr/>
          <p:nvPr/>
        </p:nvSpPr>
        <p:spPr>
          <a:xfrm>
            <a:off x="9620803" y="6473825"/>
            <a:ext cx="2570892"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
        <p:nvSpPr>
          <p:cNvPr id="4" name="Shape 2"/>
          <p:cNvSpPr/>
          <p:nvPr/>
        </p:nvSpPr>
        <p:spPr>
          <a:xfrm>
            <a:off x="660383" y="1651000"/>
            <a:ext cx="5968851" cy="2779812"/>
          </a:xfrm>
          <a:prstGeom prst="roundRect">
            <a:avLst>
              <a:gd name="adj" fmla="val 925"/>
            </a:avLst>
          </a:prstGeom>
          <a:solidFill>
            <a:srgbClr val="F4F4F1"/>
          </a:solidFill>
          <a:ln/>
        </p:spPr>
      </p:sp>
      <p:sp>
        <p:nvSpPr>
          <p:cNvPr id="5" name="Text 3"/>
          <p:cNvSpPr/>
          <p:nvPr/>
        </p:nvSpPr>
        <p:spPr>
          <a:xfrm>
            <a:off x="1015975" y="1960086"/>
            <a:ext cx="5867253" cy="173335"/>
          </a:xfrm>
          <a:prstGeom prst="rect">
            <a:avLst/>
          </a:prstGeom>
          <a:noFill/>
          <a:ln/>
        </p:spPr>
        <p:txBody>
          <a:bodyPr wrap="none" lIns="0" tIns="0" rIns="0" bIns="0" rtlCol="0" anchor="t"/>
          <a:lstStyle/>
          <a:p>
            <a:pPr algn="l" indent="0" marL="0">
              <a:lnSpc>
                <a:spcPct val="108000"/>
              </a:lnSpc>
              <a:buNone/>
            </a:pPr>
            <a:r>
              <a:rPr lang="en-US" sz="1050" spc="21" kern="100" dirty="0">
                <a:solidFill>
                  <a:srgbClr val="1B1B1A"/>
                </a:solidFill>
                <a:latin typeface="Host Grotesk Medium" pitchFamily="34" charset="0"/>
                <a:ea typeface="Host Grotesk Medium" pitchFamily="34" charset="-122"/>
                <a:cs typeface="Host Grotesk Medium" pitchFamily="34" charset="0"/>
              </a:rPr>
              <a:t>A FRIENDLY AI HELPER FOR EVERYDAY SHOPS</a:t>
            </a:r>
            <a:endParaRPr lang="en-US" sz="1050" dirty="0"/>
          </a:p>
        </p:txBody>
      </p:sp>
      <p:sp>
        <p:nvSpPr>
          <p:cNvPr id="6" name="Text 4"/>
          <p:cNvSpPr/>
          <p:nvPr/>
        </p:nvSpPr>
        <p:spPr>
          <a:xfrm>
            <a:off x="1015975" y="2253426"/>
            <a:ext cx="5257668" cy="746720"/>
          </a:xfrm>
          <a:prstGeom prst="rect">
            <a:avLst/>
          </a:prstGeom>
          <a:noFill/>
          <a:ln/>
        </p:spPr>
        <p:txBody>
          <a:bodyPr wrap="none" lIns="0" tIns="0" rIns="0" bIns="0" rtlCol="0" anchor="t"/>
          <a:lstStyle/>
          <a:p>
            <a:pPr algn="l" indent="0" marL="0">
              <a:lnSpc>
                <a:spcPct val="87000"/>
              </a:lnSpc>
              <a:buNone/>
            </a:pPr>
            <a:r>
              <a:rPr lang="en-US" sz="5600" spc="-112" kern="100" dirty="0">
                <a:solidFill>
                  <a:srgbClr val="1B1B1A"/>
                </a:solidFill>
                <a:latin typeface="Albert Sans Light" pitchFamily="34" charset="0"/>
                <a:ea typeface="Albert Sans Light" pitchFamily="34" charset="-122"/>
                <a:cs typeface="Albert Sans Light" pitchFamily="34" charset="0"/>
              </a:rPr>
              <a:t>Meet Saathi</a:t>
            </a:r>
            <a:endParaRPr lang="en-US" sz="5600" dirty="0"/>
          </a:p>
        </p:txBody>
      </p:sp>
      <p:sp>
        <p:nvSpPr>
          <p:cNvPr id="7" name="Text 5"/>
          <p:cNvSpPr/>
          <p:nvPr/>
        </p:nvSpPr>
        <p:spPr>
          <a:xfrm>
            <a:off x="1015975" y="3106678"/>
            <a:ext cx="5257668"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The everyday shop assistant</a:t>
            </a:r>
            <a:endParaRPr lang="en-US" sz="1600" dirty="0"/>
          </a:p>
        </p:txBody>
      </p:sp>
      <p:sp>
        <p:nvSpPr>
          <p:cNvPr id="8" name="Text 6"/>
          <p:cNvSpPr/>
          <p:nvPr/>
        </p:nvSpPr>
        <p:spPr>
          <a:xfrm>
            <a:off x="1015975" y="3536851"/>
            <a:ext cx="5257668" cy="58916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A friendly AI helper for small everyday daily-goods shops.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0383" y="664686"/>
            <a:ext cx="5938391" cy="173335"/>
          </a:xfrm>
          <a:prstGeom prst="rect">
            <a:avLst/>
          </a:prstGeom>
          <a:noFill/>
          <a:ln/>
        </p:spPr>
        <p:txBody>
          <a:bodyPr wrap="none" lIns="0" tIns="0" rIns="0" bIns="0" rtlCol="0" anchor="t"/>
          <a:lstStyle/>
          <a:p>
            <a:pPr algn="l" indent="0" marL="0">
              <a:lnSpc>
                <a:spcPct val="108000"/>
              </a:lnSpc>
              <a:buNone/>
            </a:pPr>
            <a:r>
              <a:rPr lang="en-US" sz="1050" spc="21" kern="100" dirty="0">
                <a:solidFill>
                  <a:srgbClr val="1B1B1A"/>
                </a:solidFill>
                <a:latin typeface="Host Grotesk Medium" pitchFamily="34" charset="0"/>
                <a:ea typeface="Host Grotesk Medium" pitchFamily="34" charset="-122"/>
                <a:cs typeface="Host Grotesk Medium" pitchFamily="34" charset="0"/>
              </a:rPr>
              <a:t>BUILT FOR THE WAY SHOPS ALREADY WORK</a:t>
            </a:r>
            <a:endParaRPr lang="en-US" sz="1050" dirty="0"/>
          </a:p>
        </p:txBody>
      </p:sp>
      <p:sp>
        <p:nvSpPr>
          <p:cNvPr id="3" name="Text 1"/>
          <p:cNvSpPr/>
          <p:nvPr/>
        </p:nvSpPr>
        <p:spPr>
          <a:xfrm>
            <a:off x="660383" y="922039"/>
            <a:ext cx="5328807" cy="1365349"/>
          </a:xfrm>
          <a:prstGeom prst="rect">
            <a:avLst/>
          </a:prstGeom>
          <a:noFill/>
          <a:ln/>
        </p:spPr>
        <p:txBody>
          <a:bodyPr wrap="square" lIns="0" tIns="0" rIns="0" bIns="0" rtlCol="0" anchor="t">
            <a:normAutofit/>
          </a:bodyPr>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It speaks the shopkeeper’s language — and knows the shop</a:t>
            </a:r>
            <a:endParaRPr lang="en-US" sz="3200" dirty="0"/>
          </a:p>
        </p:txBody>
      </p:sp>
      <p:sp>
        <p:nvSpPr>
          <p:cNvPr id="4" name="Text 2"/>
          <p:cNvSpPr/>
          <p:nvPr/>
        </p:nvSpPr>
        <p:spPr>
          <a:xfrm>
            <a:off x="660383" y="2440384"/>
            <a:ext cx="5328807" cy="58916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Five simple steps turn every sale into stock and sales records.</a:t>
            </a:r>
            <a:endParaRPr lang="en-US" sz="1600" dirty="0"/>
          </a:p>
        </p:txBody>
      </p:sp>
      <p:sp>
        <p:nvSpPr>
          <p:cNvPr id="5" name="Text 3"/>
          <p:cNvSpPr/>
          <p:nvPr/>
        </p:nvSpPr>
        <p:spPr>
          <a:xfrm>
            <a:off x="660383" y="3185120"/>
            <a:ext cx="5328807" cy="2166144"/>
          </a:xfrm>
          <a:prstGeom prst="rect">
            <a:avLst/>
          </a:prstGeom>
          <a:noFill/>
          <a:ln/>
        </p:spPr>
        <p:txBody>
          <a:bodyPr wrap="square" lIns="0" tIns="0" rIns="0" bIns="0" rtlCol="0" anchor="t">
            <a:normAutofit/>
          </a:bodyPr>
          <a:lstStyle/>
          <a:p>
            <a:pPr algn="l" marL="274320" indent="-274320">
              <a:lnSpc>
                <a:spcPct val="121000"/>
              </a:lnSpc>
              <a:buSzPct val="100000"/>
              <a:buFont typeface="+mj-lt"/>
              <a:buAutoNum type="arabicPeriod" startAt="1"/>
            </a:pPr>
            <a:r>
              <a:rPr lang="en-US" sz="1350" dirty="0">
                <a:solidFill>
                  <a:srgbClr val="1B1B1A"/>
                </a:solidFill>
                <a:latin typeface="Host Grotesk" pitchFamily="34" charset="0"/>
                <a:ea typeface="Host Grotesk" pitchFamily="34" charset="-122"/>
                <a:cs typeface="Host Grotesk" pitchFamily="34" charset="0"/>
              </a:rPr>
              <a:t>Shopkeeper adds everyday grocery products and barcode details once.</a:t>
            </a:r>
            <a:endParaRPr lang="en-US" sz="1350" dirty="0"/>
          </a:p>
          <a:p>
            <a:pPr algn="l" marL="274320" indent="-274320">
              <a:lnSpc>
                <a:spcPct val="121000"/>
              </a:lnSpc>
              <a:buSzPct val="100000"/>
              <a:buFont typeface="+mj-lt"/>
              <a:buAutoNum type="arabicPeriod" startAt="2"/>
            </a:pPr>
            <a:r>
              <a:rPr lang="en-US" sz="1350" dirty="0">
                <a:solidFill>
                  <a:srgbClr val="1B1B1A"/>
                </a:solidFill>
                <a:latin typeface="Host Grotesk" pitchFamily="34" charset="0"/>
                <a:ea typeface="Host Grotesk" pitchFamily="34" charset="-122"/>
                <a:cs typeface="Host Grotesk" pitchFamily="34" charset="0"/>
              </a:rPr>
              <a:t>During each sale, the phone camera scans the product barcode.</a:t>
            </a:r>
            <a:endParaRPr lang="en-US" sz="1350" dirty="0"/>
          </a:p>
          <a:p>
            <a:pPr algn="l" marL="274320" indent="-274320">
              <a:lnSpc>
                <a:spcPct val="121000"/>
              </a:lnSpc>
              <a:buSzPct val="100000"/>
              <a:buFont typeface="+mj-lt"/>
              <a:buAutoNum type="arabicPeriod" startAt="3"/>
            </a:pPr>
            <a:r>
              <a:rPr lang="en-US" sz="1350" dirty="0">
                <a:solidFill>
                  <a:srgbClr val="1B1B1A"/>
                </a:solidFill>
                <a:latin typeface="Host Grotesk" pitchFamily="34" charset="0"/>
                <a:ea typeface="Host Grotesk" pitchFamily="34" charset="-122"/>
                <a:cs typeface="Host Grotesk" pitchFamily="34" charset="0"/>
              </a:rPr>
              <a:t>Product name, price, and quantity go directly to the Saathi chatbot.</a:t>
            </a:r>
            <a:endParaRPr lang="en-US" sz="1350" dirty="0"/>
          </a:p>
          <a:p>
            <a:pPr algn="l" marL="274320" indent="-274320">
              <a:lnSpc>
                <a:spcPct val="121000"/>
              </a:lnSpc>
              <a:buSzPct val="100000"/>
              <a:buFont typeface="+mj-lt"/>
              <a:buAutoNum type="arabicPeriod" startAt="4"/>
            </a:pPr>
            <a:r>
              <a:rPr lang="en-US" sz="1350" dirty="0">
                <a:solidFill>
                  <a:srgbClr val="1B1B1A"/>
                </a:solidFill>
                <a:latin typeface="Host Grotesk" pitchFamily="34" charset="0"/>
                <a:ea typeface="Host Grotesk" pitchFamily="34" charset="-122"/>
                <a:cs typeface="Host Grotesk" pitchFamily="34" charset="0"/>
              </a:rPr>
              <a:t>Shopkeeper can also speak or type in a regional language.</a:t>
            </a:r>
            <a:endParaRPr lang="en-US" sz="1350" dirty="0"/>
          </a:p>
          <a:p>
            <a:pPr algn="l" marL="274320" indent="-274320">
              <a:lnSpc>
                <a:spcPct val="121000"/>
              </a:lnSpc>
              <a:buSzPct val="100000"/>
              <a:buFont typeface="+mj-lt"/>
              <a:buAutoNum type="arabicPeriod" startAt="5"/>
            </a:pPr>
            <a:r>
              <a:rPr lang="en-US" sz="1350" dirty="0">
                <a:solidFill>
                  <a:srgbClr val="1B1B1A"/>
                </a:solidFill>
                <a:latin typeface="Host Grotesk" pitchFamily="34" charset="0"/>
                <a:ea typeface="Host Grotesk" pitchFamily="34" charset="-122"/>
                <a:cs typeface="Host Grotesk" pitchFamily="34" charset="0"/>
              </a:rPr>
              <a:t>The system saves the sale in the database and automatically reduces stock.</a:t>
            </a:r>
            <a:endParaRPr lang="en-US" sz="1350" dirty="0"/>
          </a:p>
        </p:txBody>
      </p:sp>
      <p:pic>
        <p:nvPicPr>
          <p:cNvPr id="6" name="Image 0" descr="preencoded.png">    </p:cNvPr>
          <p:cNvPicPr>
            <a:picLocks noChangeAspect="1"/>
          </p:cNvPicPr>
          <p:nvPr/>
        </p:nvPicPr>
        <p:blipFill>
          <a:blip r:embed="rId1"/>
          <a:stretch>
            <a:fillRect/>
          </a:stretch>
        </p:blipFill>
        <p:spPr>
          <a:xfrm>
            <a:off x="7106663" y="0"/>
            <a:ext cx="5085032" cy="6858000"/>
          </a:xfrm>
          <a:prstGeom prst="rect">
            <a:avLst/>
          </a:prstGeom>
        </p:spPr>
      </p:pic>
      <p:sp>
        <p:nvSpPr>
          <p:cNvPr id="7" name="Text 4"/>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03</a:t>
            </a:r>
            <a:endParaRPr lang="en-US" sz="1000" dirty="0"/>
          </a:p>
        </p:txBody>
      </p:sp>
      <p:sp>
        <p:nvSpPr>
          <p:cNvPr id="8" name="Text 5"/>
          <p:cNvSpPr/>
          <p:nvPr/>
        </p:nvSpPr>
        <p:spPr>
          <a:xfrm>
            <a:off x="4901184" y="6473825"/>
            <a:ext cx="299891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0383" y="1540589"/>
            <a:ext cx="11480513" cy="173335"/>
          </a:xfrm>
          <a:prstGeom prst="rect">
            <a:avLst/>
          </a:prstGeom>
          <a:noFill/>
          <a:ln/>
        </p:spPr>
        <p:txBody>
          <a:bodyPr wrap="none" lIns="0" tIns="0" rIns="0" bIns="0" rtlCol="0" anchor="t"/>
          <a:lstStyle/>
          <a:p>
            <a:pPr algn="l" indent="0" marL="0">
              <a:lnSpc>
                <a:spcPct val="108000"/>
              </a:lnSpc>
              <a:buNone/>
            </a:pPr>
            <a:r>
              <a:rPr lang="en-US" sz="1050" spc="21" kern="100" dirty="0">
                <a:solidFill>
                  <a:srgbClr val="1B1B1A"/>
                </a:solidFill>
                <a:latin typeface="Host Grotesk Medium" pitchFamily="34" charset="0"/>
                <a:ea typeface="Host Grotesk Medium" pitchFamily="34" charset="-122"/>
                <a:cs typeface="Host Grotesk Medium" pitchFamily="34" charset="0"/>
              </a:rPr>
              <a:t>AFTER DATA CAPTURE</a:t>
            </a:r>
            <a:endParaRPr lang="en-US" sz="1050" dirty="0"/>
          </a:p>
        </p:txBody>
      </p:sp>
      <p:sp>
        <p:nvSpPr>
          <p:cNvPr id="3" name="Text 1"/>
          <p:cNvSpPr/>
          <p:nvPr/>
        </p:nvSpPr>
        <p:spPr>
          <a:xfrm>
            <a:off x="660383" y="1797942"/>
            <a:ext cx="10870928" cy="455116"/>
          </a:xfrm>
          <a:prstGeom prst="rect">
            <a:avLst/>
          </a:prstGeom>
          <a:noFill/>
          <a:ln/>
        </p:spPr>
        <p:txBody>
          <a:bodyPr wrap="none" lIns="0" tIns="0" rIns="0" bIns="0" rtlCol="0" anchor="t"/>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Every sale becomes a clear daily decision</a:t>
            </a:r>
            <a:endParaRPr lang="en-US" sz="3200" dirty="0"/>
          </a:p>
        </p:txBody>
      </p:sp>
      <p:sp>
        <p:nvSpPr>
          <p:cNvPr id="4" name="Text 2"/>
          <p:cNvSpPr/>
          <p:nvPr/>
        </p:nvSpPr>
        <p:spPr>
          <a:xfrm>
            <a:off x="660383" y="2406055"/>
            <a:ext cx="11480513" cy="294580"/>
          </a:xfrm>
          <a:prstGeom prst="rect">
            <a:avLst/>
          </a:prstGeom>
          <a:noFill/>
          <a:ln/>
        </p:spPr>
        <p:txBody>
          <a:bodyPr wrap="none" lIns="0" tIns="0" rIns="0" bIns="0" rtlCol="0" anchor="t"/>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Once a sale is captured, Saathi analyses the sales and cost data and turns it into simple daily and monthly guidance.</a:t>
            </a:r>
            <a:endParaRPr lang="en-US" sz="1600" dirty="0"/>
          </a:p>
        </p:txBody>
      </p:sp>
      <p:sp>
        <p:nvSpPr>
          <p:cNvPr id="5" name="Shape 3"/>
          <p:cNvSpPr/>
          <p:nvPr/>
        </p:nvSpPr>
        <p:spPr>
          <a:xfrm>
            <a:off x="660383" y="2856210"/>
            <a:ext cx="2489138" cy="2465388"/>
          </a:xfrm>
          <a:prstGeom prst="roundRect">
            <a:avLst>
              <a:gd name="adj" fmla="val 464"/>
            </a:avLst>
          </a:prstGeom>
          <a:solidFill>
            <a:srgbClr val="F9F7F7"/>
          </a:solidFill>
          <a:ln/>
        </p:spPr>
      </p:sp>
      <p:pic>
        <p:nvPicPr>
          <p:cNvPr id="6" name="Image 0" descr="preencoded.png">    </p:cNvPr>
          <p:cNvPicPr>
            <a:picLocks noChangeAspect="1"/>
          </p:cNvPicPr>
          <p:nvPr/>
        </p:nvPicPr>
        <p:blipFill>
          <a:blip r:embed="rId1"/>
          <a:stretch>
            <a:fillRect/>
          </a:stretch>
        </p:blipFill>
        <p:spPr>
          <a:xfrm>
            <a:off x="888978" y="3084810"/>
            <a:ext cx="342891" cy="342900"/>
          </a:xfrm>
          <a:prstGeom prst="rect">
            <a:avLst/>
          </a:prstGeom>
        </p:spPr>
      </p:pic>
      <p:sp>
        <p:nvSpPr>
          <p:cNvPr id="7" name="Text 4"/>
          <p:cNvSpPr/>
          <p:nvPr/>
        </p:nvSpPr>
        <p:spPr>
          <a:xfrm>
            <a:off x="888978" y="3530739"/>
            <a:ext cx="2031949" cy="222845"/>
          </a:xfrm>
          <a:prstGeom prst="rect">
            <a:avLst/>
          </a:prstGeom>
          <a:noFill/>
          <a:ln/>
        </p:spPr>
        <p:txBody>
          <a:bodyPr wrap="none" lIns="0" tIns="0" rIns="0" bIns="0" rtlCol="0" anchor="t"/>
          <a:lstStyle/>
          <a:p>
            <a:pPr algn="l" indent="0" marL="0">
              <a:lnSpc>
                <a:spcPct val="108000"/>
              </a:lnSpc>
              <a:buNone/>
            </a:pPr>
            <a:r>
              <a:rPr lang="en-US" sz="1350" dirty="0">
                <a:solidFill>
                  <a:srgbClr val="1B1B1A"/>
                </a:solidFill>
                <a:latin typeface="Host Grotesk Medium" pitchFamily="34" charset="0"/>
                <a:ea typeface="Host Grotesk Medium" pitchFamily="34" charset="-122"/>
                <a:cs typeface="Host Grotesk Medium" pitchFamily="34" charset="0"/>
              </a:rPr>
              <a:t>6. AI analyses the data</a:t>
            </a:r>
            <a:endParaRPr lang="en-US" sz="1350" dirty="0"/>
          </a:p>
        </p:txBody>
      </p:sp>
      <p:sp>
        <p:nvSpPr>
          <p:cNvPr id="8" name="Text 5"/>
          <p:cNvSpPr/>
          <p:nvPr/>
        </p:nvSpPr>
        <p:spPr>
          <a:xfrm>
            <a:off x="888978" y="3875980"/>
            <a:ext cx="2031949"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AI analyses sales and cost data from each captured sale.</a:t>
            </a:r>
            <a:endParaRPr lang="en-US" sz="1350" dirty="0"/>
          </a:p>
        </p:txBody>
      </p:sp>
      <p:sp>
        <p:nvSpPr>
          <p:cNvPr id="9" name="Shape 6"/>
          <p:cNvSpPr/>
          <p:nvPr/>
        </p:nvSpPr>
        <p:spPr>
          <a:xfrm>
            <a:off x="3454314" y="2856210"/>
            <a:ext cx="2489138" cy="2465388"/>
          </a:xfrm>
          <a:prstGeom prst="roundRect">
            <a:avLst>
              <a:gd name="adj" fmla="val 464"/>
            </a:avLst>
          </a:prstGeom>
          <a:solidFill>
            <a:srgbClr val="F9F7F7"/>
          </a:solidFill>
          <a:ln/>
        </p:spPr>
      </p:sp>
      <p:pic>
        <p:nvPicPr>
          <p:cNvPr id="10" name="Image 1" descr="preencoded.png">    </p:cNvPr>
          <p:cNvPicPr>
            <a:picLocks noChangeAspect="1"/>
          </p:cNvPicPr>
          <p:nvPr/>
        </p:nvPicPr>
        <p:blipFill>
          <a:blip r:embed="rId2"/>
          <a:stretch>
            <a:fillRect/>
          </a:stretch>
        </p:blipFill>
        <p:spPr>
          <a:xfrm>
            <a:off x="3682908" y="3084810"/>
            <a:ext cx="342891" cy="342900"/>
          </a:xfrm>
          <a:prstGeom prst="rect">
            <a:avLst/>
          </a:prstGeom>
        </p:spPr>
      </p:pic>
      <p:sp>
        <p:nvSpPr>
          <p:cNvPr id="11" name="Text 7"/>
          <p:cNvSpPr/>
          <p:nvPr/>
        </p:nvSpPr>
        <p:spPr>
          <a:xfrm>
            <a:off x="3682908" y="3530739"/>
            <a:ext cx="2031949" cy="445691"/>
          </a:xfrm>
          <a:prstGeom prst="rect">
            <a:avLst/>
          </a:prstGeom>
          <a:noFill/>
          <a:ln/>
        </p:spPr>
        <p:txBody>
          <a:bodyPr wrap="square" lIns="0" tIns="0" rIns="0" bIns="0" rtlCol="0" anchor="t">
            <a:normAutofit/>
          </a:bodyPr>
          <a:lstStyle/>
          <a:p>
            <a:pPr algn="l" indent="0" marL="0">
              <a:lnSpc>
                <a:spcPct val="108000"/>
              </a:lnSpc>
              <a:buNone/>
            </a:pPr>
            <a:r>
              <a:rPr lang="en-US" sz="1350" dirty="0">
                <a:solidFill>
                  <a:srgbClr val="1B1B1A"/>
                </a:solidFill>
                <a:latin typeface="Host Grotesk Medium" pitchFamily="34" charset="0"/>
                <a:ea typeface="Host Grotesk Medium" pitchFamily="34" charset="-122"/>
                <a:cs typeface="Host Grotesk Medium" pitchFamily="34" charset="0"/>
              </a:rPr>
              <a:t>7. Daily revenue and profit/loss</a:t>
            </a:r>
            <a:endParaRPr lang="en-US" sz="1350" dirty="0"/>
          </a:p>
        </p:txBody>
      </p:sp>
      <p:sp>
        <p:nvSpPr>
          <p:cNvPr id="12" name="Text 8"/>
          <p:cNvSpPr/>
          <p:nvPr/>
        </p:nvSpPr>
        <p:spPr>
          <a:xfrm>
            <a:off x="3682908" y="4098826"/>
            <a:ext cx="2031949" cy="994172"/>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It calculates revenue and shows whether the shop made a profit or loss today.</a:t>
            </a:r>
            <a:endParaRPr lang="en-US" sz="1350" dirty="0"/>
          </a:p>
        </p:txBody>
      </p:sp>
      <p:sp>
        <p:nvSpPr>
          <p:cNvPr id="13" name="Shape 9"/>
          <p:cNvSpPr/>
          <p:nvPr/>
        </p:nvSpPr>
        <p:spPr>
          <a:xfrm>
            <a:off x="6248244" y="2856210"/>
            <a:ext cx="2489138" cy="2465388"/>
          </a:xfrm>
          <a:prstGeom prst="roundRect">
            <a:avLst>
              <a:gd name="adj" fmla="val 464"/>
            </a:avLst>
          </a:prstGeom>
          <a:solidFill>
            <a:srgbClr val="F9F7F7"/>
          </a:solidFill>
          <a:ln/>
        </p:spPr>
      </p:sp>
      <p:pic>
        <p:nvPicPr>
          <p:cNvPr id="14" name="Image 2" descr="preencoded.png">    </p:cNvPr>
          <p:cNvPicPr>
            <a:picLocks noChangeAspect="1"/>
          </p:cNvPicPr>
          <p:nvPr/>
        </p:nvPicPr>
        <p:blipFill>
          <a:blip r:embed="rId3"/>
          <a:stretch>
            <a:fillRect/>
          </a:stretch>
        </p:blipFill>
        <p:spPr>
          <a:xfrm>
            <a:off x="6476838" y="3084810"/>
            <a:ext cx="342891" cy="342900"/>
          </a:xfrm>
          <a:prstGeom prst="rect">
            <a:avLst/>
          </a:prstGeom>
        </p:spPr>
      </p:pic>
      <p:sp>
        <p:nvSpPr>
          <p:cNvPr id="15" name="Text 10"/>
          <p:cNvSpPr/>
          <p:nvPr/>
        </p:nvSpPr>
        <p:spPr>
          <a:xfrm>
            <a:off x="6476838" y="3530739"/>
            <a:ext cx="2031949" cy="445691"/>
          </a:xfrm>
          <a:prstGeom prst="rect">
            <a:avLst/>
          </a:prstGeom>
          <a:noFill/>
          <a:ln/>
        </p:spPr>
        <p:txBody>
          <a:bodyPr wrap="square" lIns="0" tIns="0" rIns="0" bIns="0" rtlCol="0" anchor="t">
            <a:normAutofit/>
          </a:bodyPr>
          <a:lstStyle/>
          <a:p>
            <a:pPr algn="l" indent="0" marL="0">
              <a:lnSpc>
                <a:spcPct val="108000"/>
              </a:lnSpc>
              <a:buNone/>
            </a:pPr>
            <a:r>
              <a:rPr lang="en-US" sz="1350" dirty="0">
                <a:solidFill>
                  <a:srgbClr val="1B1B1A"/>
                </a:solidFill>
                <a:latin typeface="Host Grotesk Medium" pitchFamily="34" charset="0"/>
                <a:ea typeface="Host Grotesk Medium" pitchFamily="34" charset="-122"/>
                <a:cs typeface="Host Grotesk Medium" pitchFamily="34" charset="0"/>
              </a:rPr>
              <a:t>8. Refill and expiry reminders</a:t>
            </a:r>
            <a:endParaRPr lang="en-US" sz="1350" dirty="0"/>
          </a:p>
        </p:txBody>
      </p:sp>
      <p:sp>
        <p:nvSpPr>
          <p:cNvPr id="16" name="Text 11"/>
          <p:cNvSpPr/>
          <p:nvPr/>
        </p:nvSpPr>
        <p:spPr>
          <a:xfrm>
            <a:off x="6476838" y="4098826"/>
            <a:ext cx="2031949"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Low-stock refill alerts and expiry reminders help the shop act in time.</a:t>
            </a:r>
            <a:endParaRPr lang="en-US" sz="1350" dirty="0"/>
          </a:p>
        </p:txBody>
      </p:sp>
      <p:sp>
        <p:nvSpPr>
          <p:cNvPr id="17" name="Shape 12"/>
          <p:cNvSpPr/>
          <p:nvPr/>
        </p:nvSpPr>
        <p:spPr>
          <a:xfrm>
            <a:off x="9042174" y="2856210"/>
            <a:ext cx="2489138" cy="2465388"/>
          </a:xfrm>
          <a:prstGeom prst="roundRect">
            <a:avLst>
              <a:gd name="adj" fmla="val 464"/>
            </a:avLst>
          </a:prstGeom>
          <a:solidFill>
            <a:srgbClr val="F9F7F7"/>
          </a:solidFill>
          <a:ln/>
        </p:spPr>
      </p:sp>
      <p:pic>
        <p:nvPicPr>
          <p:cNvPr id="18" name="Image 3" descr="preencoded.png">    </p:cNvPr>
          <p:cNvPicPr>
            <a:picLocks noChangeAspect="1"/>
          </p:cNvPicPr>
          <p:nvPr/>
        </p:nvPicPr>
        <p:blipFill>
          <a:blip r:embed="rId4"/>
          <a:stretch>
            <a:fillRect/>
          </a:stretch>
        </p:blipFill>
        <p:spPr>
          <a:xfrm>
            <a:off x="9270768" y="3084810"/>
            <a:ext cx="342891" cy="342900"/>
          </a:xfrm>
          <a:prstGeom prst="rect">
            <a:avLst/>
          </a:prstGeom>
        </p:spPr>
      </p:pic>
      <p:sp>
        <p:nvSpPr>
          <p:cNvPr id="19" name="Text 13"/>
          <p:cNvSpPr/>
          <p:nvPr/>
        </p:nvSpPr>
        <p:spPr>
          <a:xfrm>
            <a:off x="9270768" y="3530739"/>
            <a:ext cx="2031949" cy="222845"/>
          </a:xfrm>
          <a:prstGeom prst="rect">
            <a:avLst/>
          </a:prstGeom>
          <a:noFill/>
          <a:ln/>
        </p:spPr>
        <p:txBody>
          <a:bodyPr wrap="none" lIns="0" tIns="0" rIns="0" bIns="0" rtlCol="0" anchor="t"/>
          <a:lstStyle/>
          <a:p>
            <a:pPr algn="l" indent="0" marL="0">
              <a:lnSpc>
                <a:spcPct val="108000"/>
              </a:lnSpc>
              <a:buNone/>
            </a:pPr>
            <a:r>
              <a:rPr lang="en-US" sz="1350" dirty="0">
                <a:solidFill>
                  <a:srgbClr val="1B1B1A"/>
                </a:solidFill>
                <a:latin typeface="Host Grotesk Medium" pitchFamily="34" charset="0"/>
                <a:ea typeface="Host Grotesk Medium" pitchFamily="34" charset="-122"/>
                <a:cs typeface="Host Grotesk Medium" pitchFamily="34" charset="0"/>
              </a:rPr>
              <a:t>9. Monthly dashboard</a:t>
            </a:r>
            <a:endParaRPr lang="en-US" sz="1350" dirty="0"/>
          </a:p>
        </p:txBody>
      </p:sp>
      <p:sp>
        <p:nvSpPr>
          <p:cNvPr id="20" name="Text 14"/>
          <p:cNvSpPr/>
          <p:nvPr/>
        </p:nvSpPr>
        <p:spPr>
          <a:xfrm>
            <a:off x="9270768" y="3875980"/>
            <a:ext cx="2031949" cy="994172"/>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Sales trends, profit/loss percentage, and fast-moving products at a glance.</a:t>
            </a:r>
            <a:endParaRPr lang="en-US" sz="1350" dirty="0"/>
          </a:p>
        </p:txBody>
      </p:sp>
      <p:sp>
        <p:nvSpPr>
          <p:cNvPr id="21" name="Text 15"/>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04</a:t>
            </a:r>
            <a:endParaRPr lang="en-US" sz="1000" dirty="0"/>
          </a:p>
        </p:txBody>
      </p:sp>
      <p:sp>
        <p:nvSpPr>
          <p:cNvPr id="22" name="Text 16"/>
          <p:cNvSpPr/>
          <p:nvPr/>
        </p:nvSpPr>
        <p:spPr>
          <a:xfrm>
            <a:off x="9620803" y="6473825"/>
            <a:ext cx="2570892"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0383" y="664686"/>
            <a:ext cx="3200320" cy="173335"/>
          </a:xfrm>
          <a:prstGeom prst="rect">
            <a:avLst/>
          </a:prstGeom>
          <a:noFill/>
          <a:ln/>
        </p:spPr>
        <p:txBody>
          <a:bodyPr wrap="none" lIns="0" tIns="0" rIns="0" bIns="0" rtlCol="0" anchor="t"/>
          <a:lstStyle/>
          <a:p>
            <a:pPr algn="l" indent="0" marL="0">
              <a:lnSpc>
                <a:spcPct val="108000"/>
              </a:lnSpc>
              <a:buNone/>
            </a:pPr>
            <a:r>
              <a:rPr lang="en-US" sz="1050" spc="21" kern="100" dirty="0">
                <a:solidFill>
                  <a:srgbClr val="1B1B1A"/>
                </a:solidFill>
                <a:latin typeface="Host Grotesk Medium" pitchFamily="34" charset="0"/>
                <a:ea typeface="Host Grotesk Medium" pitchFamily="34" charset="-122"/>
                <a:cs typeface="Host Grotesk Medium" pitchFamily="34" charset="0"/>
              </a:rPr>
              <a:t>LANGUAGE INTELLIGENCE</a:t>
            </a:r>
            <a:endParaRPr lang="en-US" sz="1050" dirty="0"/>
          </a:p>
        </p:txBody>
      </p:sp>
      <p:sp>
        <p:nvSpPr>
          <p:cNvPr id="3" name="Text 1"/>
          <p:cNvSpPr/>
          <p:nvPr/>
        </p:nvSpPr>
        <p:spPr>
          <a:xfrm>
            <a:off x="660383" y="922039"/>
            <a:ext cx="2590735" cy="1820466"/>
          </a:xfrm>
          <a:prstGeom prst="rect">
            <a:avLst/>
          </a:prstGeom>
          <a:noFill/>
          <a:ln/>
        </p:spPr>
        <p:txBody>
          <a:bodyPr wrap="square" lIns="0" tIns="0" rIns="0" bIns="0" rtlCol="0" anchor="t">
            <a:normAutofit/>
          </a:bodyPr>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Gemma gives Saathi its language intelligence</a:t>
            </a:r>
            <a:endParaRPr lang="en-US" sz="3200" dirty="0"/>
          </a:p>
        </p:txBody>
      </p:sp>
      <p:sp>
        <p:nvSpPr>
          <p:cNvPr id="4" name="Text 2"/>
          <p:cNvSpPr/>
          <p:nvPr/>
        </p:nvSpPr>
        <p:spPr>
          <a:xfrm>
            <a:off x="660383" y="2895501"/>
            <a:ext cx="2590735" cy="1472902"/>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Gemma, Google's open model family, gives Saathi the ability to understand and speak the regional language.</a:t>
            </a:r>
            <a:endParaRPr lang="en-US" sz="1600" dirty="0"/>
          </a:p>
        </p:txBody>
      </p:sp>
      <p:sp>
        <p:nvSpPr>
          <p:cNvPr id="5" name="Shape 3"/>
          <p:cNvSpPr/>
          <p:nvPr/>
        </p:nvSpPr>
        <p:spPr>
          <a:xfrm>
            <a:off x="5029074" y="846931"/>
            <a:ext cx="3174921" cy="1590774"/>
          </a:xfrm>
          <a:prstGeom prst="roundRect">
            <a:avLst>
              <a:gd name="adj" fmla="val 719"/>
            </a:avLst>
          </a:prstGeom>
          <a:solidFill>
            <a:srgbClr val="F9F7F7"/>
          </a:solidFill>
          <a:ln/>
        </p:spPr>
      </p:sp>
      <p:sp>
        <p:nvSpPr>
          <p:cNvPr id="6" name="Text 4"/>
          <p:cNvSpPr/>
          <p:nvPr/>
        </p:nvSpPr>
        <p:spPr>
          <a:xfrm>
            <a:off x="5257668" y="1080929"/>
            <a:ext cx="2717732"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Gemma</a:t>
            </a:r>
            <a:endParaRPr lang="en-US" sz="1600" dirty="0"/>
          </a:p>
        </p:txBody>
      </p:sp>
      <p:sp>
        <p:nvSpPr>
          <p:cNvPr id="7" name="Text 5"/>
          <p:cNvSpPr/>
          <p:nvPr/>
        </p:nvSpPr>
        <p:spPr>
          <a:xfrm>
            <a:off x="5257668" y="1463477"/>
            <a:ext cx="2717732"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Google's open model family that understands and writes the regional language.</a:t>
            </a:r>
            <a:endParaRPr lang="en-US" sz="1350" dirty="0"/>
          </a:p>
        </p:txBody>
      </p:sp>
      <p:sp>
        <p:nvSpPr>
          <p:cNvPr id="8" name="Shape 6"/>
          <p:cNvSpPr/>
          <p:nvPr/>
        </p:nvSpPr>
        <p:spPr>
          <a:xfrm>
            <a:off x="8356391" y="846931"/>
            <a:ext cx="3174921" cy="1590774"/>
          </a:xfrm>
          <a:prstGeom prst="roundRect">
            <a:avLst>
              <a:gd name="adj" fmla="val 719"/>
            </a:avLst>
          </a:prstGeom>
          <a:solidFill>
            <a:srgbClr val="F9F7F7"/>
          </a:solidFill>
          <a:ln/>
        </p:spPr>
      </p:sp>
      <p:sp>
        <p:nvSpPr>
          <p:cNvPr id="9" name="Text 7"/>
          <p:cNvSpPr/>
          <p:nvPr/>
        </p:nvSpPr>
        <p:spPr>
          <a:xfrm>
            <a:off x="8584985" y="1080929"/>
            <a:ext cx="2717732"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Gemini API</a:t>
            </a:r>
            <a:endParaRPr lang="en-US" sz="1600" dirty="0"/>
          </a:p>
        </p:txBody>
      </p:sp>
      <p:sp>
        <p:nvSpPr>
          <p:cNvPr id="10" name="Text 8"/>
          <p:cNvSpPr/>
          <p:nvPr/>
        </p:nvSpPr>
        <p:spPr>
          <a:xfrm>
            <a:off x="8584985" y="1463477"/>
            <a:ext cx="2717732"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The hosted way Saathi calls Gemma during development and prototyping.</a:t>
            </a:r>
            <a:endParaRPr lang="en-US" sz="1350" dirty="0"/>
          </a:p>
        </p:txBody>
      </p:sp>
      <p:sp>
        <p:nvSpPr>
          <p:cNvPr id="11" name="Shape 9"/>
          <p:cNvSpPr/>
          <p:nvPr/>
        </p:nvSpPr>
        <p:spPr>
          <a:xfrm>
            <a:off x="5029074" y="2590006"/>
            <a:ext cx="3174921" cy="1342231"/>
          </a:xfrm>
          <a:prstGeom prst="roundRect">
            <a:avLst>
              <a:gd name="adj" fmla="val 852"/>
            </a:avLst>
          </a:prstGeom>
          <a:solidFill>
            <a:srgbClr val="F9F7F7"/>
          </a:solidFill>
          <a:ln/>
        </p:spPr>
      </p:sp>
      <p:sp>
        <p:nvSpPr>
          <p:cNvPr id="12" name="Text 10"/>
          <p:cNvSpPr/>
          <p:nvPr/>
        </p:nvSpPr>
        <p:spPr>
          <a:xfrm>
            <a:off x="5257668" y="2824004"/>
            <a:ext cx="2717732"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Google AI Studio</a:t>
            </a:r>
            <a:endParaRPr lang="en-US" sz="1600" dirty="0"/>
          </a:p>
        </p:txBody>
      </p:sp>
      <p:sp>
        <p:nvSpPr>
          <p:cNvPr id="13" name="Text 11"/>
          <p:cNvSpPr/>
          <p:nvPr/>
        </p:nvSpPr>
        <p:spPr>
          <a:xfrm>
            <a:off x="5257668" y="3206552"/>
            <a:ext cx="2717732" cy="497086"/>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Where the Gemini API key is created and managed.</a:t>
            </a:r>
            <a:endParaRPr lang="en-US" sz="1350" dirty="0"/>
          </a:p>
        </p:txBody>
      </p:sp>
      <p:sp>
        <p:nvSpPr>
          <p:cNvPr id="14" name="Shape 12"/>
          <p:cNvSpPr/>
          <p:nvPr/>
        </p:nvSpPr>
        <p:spPr>
          <a:xfrm>
            <a:off x="8356391" y="2590006"/>
            <a:ext cx="3174921" cy="1342231"/>
          </a:xfrm>
          <a:prstGeom prst="roundRect">
            <a:avLst>
              <a:gd name="adj" fmla="val 852"/>
            </a:avLst>
          </a:prstGeom>
          <a:solidFill>
            <a:srgbClr val="F9F7F7"/>
          </a:solidFill>
          <a:ln/>
        </p:spPr>
      </p:sp>
      <p:sp>
        <p:nvSpPr>
          <p:cNvPr id="15" name="Text 13"/>
          <p:cNvSpPr/>
          <p:nvPr/>
        </p:nvSpPr>
        <p:spPr>
          <a:xfrm>
            <a:off x="8584985" y="2824004"/>
            <a:ext cx="2717732"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API key</a:t>
            </a:r>
            <a:endParaRPr lang="en-US" sz="1600" dirty="0"/>
          </a:p>
        </p:txBody>
      </p:sp>
      <p:sp>
        <p:nvSpPr>
          <p:cNvPr id="16" name="Text 14"/>
          <p:cNvSpPr/>
          <p:nvPr/>
        </p:nvSpPr>
        <p:spPr>
          <a:xfrm>
            <a:off x="8584985" y="3206552"/>
            <a:ext cx="2717732" cy="497086"/>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A private key that proves Saathi may call the API.</a:t>
            </a:r>
            <a:endParaRPr lang="en-US" sz="1350" dirty="0"/>
          </a:p>
        </p:txBody>
      </p:sp>
      <p:sp>
        <p:nvSpPr>
          <p:cNvPr id="17" name="Shape 15"/>
          <p:cNvSpPr/>
          <p:nvPr/>
        </p:nvSpPr>
        <p:spPr>
          <a:xfrm>
            <a:off x="5029074" y="4084538"/>
            <a:ext cx="6502237" cy="1093688"/>
          </a:xfrm>
          <a:prstGeom prst="roundRect">
            <a:avLst>
              <a:gd name="adj" fmla="val 1045"/>
            </a:avLst>
          </a:prstGeom>
          <a:solidFill>
            <a:srgbClr val="F9F7F7"/>
          </a:solidFill>
          <a:ln/>
        </p:spPr>
      </p:sp>
      <p:sp>
        <p:nvSpPr>
          <p:cNvPr id="18" name="Text 16"/>
          <p:cNvSpPr/>
          <p:nvPr/>
        </p:nvSpPr>
        <p:spPr>
          <a:xfrm>
            <a:off x="5257668" y="4318536"/>
            <a:ext cx="6045049"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Keep the key private</a:t>
            </a:r>
            <a:endParaRPr lang="en-US" sz="1600" dirty="0"/>
          </a:p>
        </p:txBody>
      </p:sp>
      <p:sp>
        <p:nvSpPr>
          <p:cNvPr id="19" name="Text 17"/>
          <p:cNvSpPr/>
          <p:nvPr/>
        </p:nvSpPr>
        <p:spPr>
          <a:xfrm>
            <a:off x="5257668" y="4701084"/>
            <a:ext cx="6273643" cy="248543"/>
          </a:xfrm>
          <a:prstGeom prst="rect">
            <a:avLst/>
          </a:prstGeom>
          <a:noFill/>
          <a:ln/>
        </p:spPr>
        <p:txBody>
          <a:bodyPr wrap="none" lIns="0" tIns="0" rIns="0" bIns="0" rtlCol="0" anchor="t"/>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Never share it or post it publicly; anyone with the key can use your access.</a:t>
            </a:r>
            <a:endParaRPr lang="en-US" sz="1350" dirty="0"/>
          </a:p>
        </p:txBody>
      </p:sp>
      <p:sp>
        <p:nvSpPr>
          <p:cNvPr id="20" name="Shape 18"/>
          <p:cNvSpPr/>
          <p:nvPr/>
        </p:nvSpPr>
        <p:spPr>
          <a:xfrm>
            <a:off x="5029074" y="5333802"/>
            <a:ext cx="6502237" cy="677168"/>
          </a:xfrm>
          <a:prstGeom prst="roundRect">
            <a:avLst>
              <a:gd name="adj" fmla="val 1688"/>
            </a:avLst>
          </a:prstGeom>
          <a:solidFill>
            <a:srgbClr val="B6D6FC"/>
          </a:solidFill>
          <a:ln/>
        </p:spPr>
      </p:sp>
      <p:pic>
        <p:nvPicPr>
          <p:cNvPr id="21" name="Image 0" descr="preencoded.png">    </p:cNvPr>
          <p:cNvPicPr>
            <a:picLocks noChangeAspect="1"/>
          </p:cNvPicPr>
          <p:nvPr/>
        </p:nvPicPr>
        <p:blipFill>
          <a:blip r:embed="rId1"/>
          <a:stretch>
            <a:fillRect/>
          </a:stretch>
        </p:blipFill>
        <p:spPr>
          <a:xfrm>
            <a:off x="5200520" y="5575895"/>
            <a:ext cx="214307" cy="171450"/>
          </a:xfrm>
          <a:prstGeom prst="rect">
            <a:avLst/>
          </a:prstGeom>
        </p:spPr>
      </p:pic>
      <p:sp>
        <p:nvSpPr>
          <p:cNvPr id="22" name="Text 19"/>
          <p:cNvSpPr/>
          <p:nvPr/>
        </p:nvSpPr>
        <p:spPr>
          <a:xfrm>
            <a:off x="5586273" y="5548114"/>
            <a:ext cx="6383178" cy="248543"/>
          </a:xfrm>
          <a:prstGeom prst="rect">
            <a:avLst/>
          </a:prstGeom>
          <a:noFill/>
          <a:ln/>
        </p:spPr>
        <p:txBody>
          <a:bodyPr wrap="none" lIns="0" tIns="0" rIns="0" bIns="0" rtlCol="0" anchor="t"/>
          <a:lstStyle/>
          <a:p>
            <a:pPr algn="l" indent="0" marL="0">
              <a:lnSpc>
                <a:spcPct val="121000"/>
              </a:lnSpc>
              <a:buNone/>
            </a:pPr>
            <a:r>
              <a:rPr lang="en-US" sz="1350" b="1" dirty="0">
                <a:solidFill>
                  <a:srgbClr val="000000"/>
                </a:solidFill>
                <a:latin typeface="Host Grotesk Bold" pitchFamily="34" charset="0"/>
                <a:ea typeface="Host Grotesk Bold" pitchFamily="34" charset="-122"/>
                <a:cs typeface="Host Grotesk Bold" pitchFamily="34" charset="0"/>
              </a:rPr>
              <a:t>Remember:</a:t>
            </a:r>
            <a:pPr algn="l" indent="0" marL="0">
              <a:lnSpc>
                <a:spcPct val="121000"/>
              </a:lnSpc>
              <a:buNone/>
            </a:pPr>
            <a:r>
              <a:rPr lang="en-US" sz="1350" dirty="0">
                <a:solidFill>
                  <a:srgbClr val="000000"/>
                </a:solidFill>
                <a:latin typeface="Host Grotesk" pitchFamily="34" charset="0"/>
                <a:ea typeface="Host Grotesk" pitchFamily="34" charset="-122"/>
                <a:cs typeface="Host Grotesk" pitchFamily="34" charset="0"/>
              </a:rPr>
              <a:t> keep the API key secret.</a:t>
            </a:r>
            <a:endParaRPr lang="en-US" sz="1350" dirty="0"/>
          </a:p>
        </p:txBody>
      </p:sp>
      <p:sp>
        <p:nvSpPr>
          <p:cNvPr id="23" name="Text 20"/>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05</a:t>
            </a:r>
            <a:endParaRPr lang="en-US" sz="1000" dirty="0"/>
          </a:p>
        </p:txBody>
      </p:sp>
      <p:sp>
        <p:nvSpPr>
          <p:cNvPr id="24" name="Text 21"/>
          <p:cNvSpPr/>
          <p:nvPr/>
        </p:nvSpPr>
        <p:spPr>
          <a:xfrm>
            <a:off x="9620803" y="6473825"/>
            <a:ext cx="2570892"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0383" y="678854"/>
            <a:ext cx="5328807" cy="910233"/>
          </a:xfrm>
          <a:prstGeom prst="rect">
            <a:avLst/>
          </a:prstGeom>
          <a:noFill/>
          <a:ln/>
        </p:spPr>
        <p:txBody>
          <a:bodyPr wrap="square" lIns="0" tIns="0" rIns="0" bIns="0" rtlCol="0" anchor="t">
            <a:normAutofit/>
          </a:bodyPr>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Month-end dashboard guides the next steps</a:t>
            </a:r>
            <a:endParaRPr lang="en-US" sz="3200" dirty="0"/>
          </a:p>
        </p:txBody>
      </p:sp>
      <p:sp>
        <p:nvSpPr>
          <p:cNvPr id="3" name="Text 1"/>
          <p:cNvSpPr/>
          <p:nvPr/>
        </p:nvSpPr>
        <p:spPr>
          <a:xfrm>
            <a:off x="660383" y="1672233"/>
            <a:ext cx="5328807" cy="1420515"/>
          </a:xfrm>
          <a:prstGeom prst="rect">
            <a:avLst/>
          </a:prstGeom>
          <a:noFill/>
          <a:ln/>
        </p:spPr>
        <p:txBody>
          <a:bodyPr wrap="square" lIns="0" tIns="0" rIns="0" bIns="0" rtlCol="0" anchor="t">
            <a:normAutofit/>
          </a:bodyPr>
          <a:lstStyle/>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Sales trend across the month</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Total profit or loss percentage</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Expired products and items to refill</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Fast-moving goods to stock more</a:t>
            </a:r>
            <a:endParaRPr lang="en-US" sz="1350" dirty="0"/>
          </a:p>
          <a:p>
            <a:pPr algn="l" marL="274320" indent="-274320">
              <a:lnSpc>
                <a:spcPct val="121000"/>
              </a:lnSpc>
              <a:buSzPct val="100000"/>
              <a:buChar char="•"/>
            </a:pPr>
            <a:r>
              <a:rPr lang="en-US" sz="1350" dirty="0">
                <a:solidFill>
                  <a:srgbClr val="1B1B1A"/>
                </a:solidFill>
                <a:latin typeface="Host Grotesk" pitchFamily="34" charset="0"/>
                <a:ea typeface="Host Grotesk" pitchFamily="34" charset="-122"/>
                <a:cs typeface="Host Grotesk" pitchFamily="34" charset="0"/>
              </a:rPr>
              <a:t>What to increase or reduce to grow the business</a:t>
            </a:r>
            <a:endParaRPr lang="en-US" sz="1350" dirty="0"/>
          </a:p>
        </p:txBody>
      </p:sp>
      <p:pic>
        <p:nvPicPr>
          <p:cNvPr id="4" name="Image 0" descr="preencoded.png">    </p:cNvPr>
          <p:cNvPicPr>
            <a:picLocks noChangeAspect="1"/>
          </p:cNvPicPr>
          <p:nvPr/>
        </p:nvPicPr>
        <p:blipFill>
          <a:blip r:embed="rId1"/>
          <a:stretch>
            <a:fillRect/>
          </a:stretch>
        </p:blipFill>
        <p:spPr>
          <a:xfrm>
            <a:off x="7106663" y="0"/>
            <a:ext cx="5085032" cy="6858000"/>
          </a:xfrm>
          <a:prstGeom prst="rect">
            <a:avLst/>
          </a:prstGeom>
        </p:spPr>
      </p:pic>
      <p:sp>
        <p:nvSpPr>
          <p:cNvPr id="5" name="Text 2"/>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06</a:t>
            </a:r>
            <a:endParaRPr lang="en-US" sz="1000" dirty="0"/>
          </a:p>
        </p:txBody>
      </p:sp>
      <p:sp>
        <p:nvSpPr>
          <p:cNvPr id="6" name="Text 3"/>
          <p:cNvSpPr/>
          <p:nvPr/>
        </p:nvSpPr>
        <p:spPr>
          <a:xfrm>
            <a:off x="4901184" y="6473825"/>
            <a:ext cx="299891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0383" y="664686"/>
            <a:ext cx="3982640" cy="173335"/>
          </a:xfrm>
          <a:prstGeom prst="rect">
            <a:avLst/>
          </a:prstGeom>
          <a:noFill/>
          <a:ln/>
        </p:spPr>
        <p:txBody>
          <a:bodyPr wrap="none" lIns="0" tIns="0" rIns="0" bIns="0" rtlCol="0" anchor="t"/>
          <a:lstStyle/>
          <a:p>
            <a:pPr algn="l" indent="0" marL="0">
              <a:lnSpc>
                <a:spcPct val="108000"/>
              </a:lnSpc>
              <a:buNone/>
            </a:pPr>
            <a:r>
              <a:rPr lang="en-US" sz="1050" spc="21" kern="100" dirty="0">
                <a:solidFill>
                  <a:srgbClr val="1B1B1A"/>
                </a:solidFill>
                <a:latin typeface="Host Grotesk Medium" pitchFamily="34" charset="0"/>
                <a:ea typeface="Host Grotesk Medium" pitchFamily="34" charset="-122"/>
                <a:cs typeface="Host Grotesk Medium" pitchFamily="34" charset="0"/>
              </a:rPr>
              <a:t>LANGUAGE INTELLIGENCE</a:t>
            </a:r>
            <a:endParaRPr lang="en-US" sz="1050" dirty="0"/>
          </a:p>
        </p:txBody>
      </p:sp>
      <p:sp>
        <p:nvSpPr>
          <p:cNvPr id="3" name="Text 1"/>
          <p:cNvSpPr/>
          <p:nvPr/>
        </p:nvSpPr>
        <p:spPr>
          <a:xfrm>
            <a:off x="660383" y="922039"/>
            <a:ext cx="3373055" cy="1365349"/>
          </a:xfrm>
          <a:prstGeom prst="rect">
            <a:avLst/>
          </a:prstGeom>
          <a:noFill/>
          <a:ln/>
        </p:spPr>
        <p:txBody>
          <a:bodyPr wrap="square" lIns="0" tIns="0" rIns="0" bIns="0" rtlCol="0" anchor="t">
            <a:normAutofit/>
          </a:bodyPr>
          <a:lstStyle/>
          <a:p>
            <a:pPr algn="l" indent="0" marL="0">
              <a:lnSpc>
                <a:spcPct val="93000"/>
              </a:lnSpc>
              <a:buNone/>
            </a:pPr>
            <a:r>
              <a:rPr lang="en-US" sz="3200" spc="-48" kern="100" dirty="0">
                <a:solidFill>
                  <a:srgbClr val="1B1B1A"/>
                </a:solidFill>
                <a:latin typeface="Albert Sans Light" pitchFamily="34" charset="0"/>
                <a:ea typeface="Albert Sans Light" pitchFamily="34" charset="-122"/>
                <a:cs typeface="Albert Sans Light" pitchFamily="34" charset="0"/>
              </a:rPr>
              <a:t>Gemma and the Gemini API power Saathi</a:t>
            </a:r>
            <a:endParaRPr lang="en-US" sz="3200" dirty="0"/>
          </a:p>
        </p:txBody>
      </p:sp>
      <p:sp>
        <p:nvSpPr>
          <p:cNvPr id="4" name="Text 2"/>
          <p:cNvSpPr/>
          <p:nvPr/>
        </p:nvSpPr>
        <p:spPr>
          <a:xfrm>
            <a:off x="660383" y="2440384"/>
            <a:ext cx="3373055" cy="1178322"/>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Gemma understands shopkeeper messages and generates replies. The Gemini API connects the app to Gemma.</a:t>
            </a:r>
            <a:endParaRPr lang="en-US" sz="1600" dirty="0"/>
          </a:p>
        </p:txBody>
      </p:sp>
      <p:sp>
        <p:nvSpPr>
          <p:cNvPr id="5" name="Shape 3"/>
          <p:cNvSpPr/>
          <p:nvPr/>
        </p:nvSpPr>
        <p:spPr>
          <a:xfrm>
            <a:off x="5150912" y="0"/>
            <a:ext cx="3444194" cy="3352800"/>
          </a:xfrm>
          <a:prstGeom prst="rect">
            <a:avLst/>
          </a:prstGeom>
          <a:solidFill>
            <a:srgbClr val="F9F7F7"/>
          </a:solidFill>
          <a:ln/>
        </p:spPr>
      </p:sp>
      <p:sp>
        <p:nvSpPr>
          <p:cNvPr id="6" name="Text 4"/>
          <p:cNvSpPr/>
          <p:nvPr/>
        </p:nvSpPr>
        <p:spPr>
          <a:xfrm>
            <a:off x="5811295" y="665798"/>
            <a:ext cx="2123427"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Gemma</a:t>
            </a:r>
            <a:endParaRPr lang="en-US" sz="1600" dirty="0"/>
          </a:p>
        </p:txBody>
      </p:sp>
      <p:sp>
        <p:nvSpPr>
          <p:cNvPr id="7" name="Text 5"/>
          <p:cNvSpPr/>
          <p:nvPr/>
        </p:nvSpPr>
        <p:spPr>
          <a:xfrm>
            <a:off x="5811295" y="1048345"/>
            <a:ext cx="2123427" cy="994172"/>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The AI model that understands the shopkeeper's message and writes the reply.</a:t>
            </a:r>
            <a:endParaRPr lang="en-US" sz="1350" dirty="0"/>
          </a:p>
        </p:txBody>
      </p:sp>
      <p:sp>
        <p:nvSpPr>
          <p:cNvPr id="8" name="Shape 6"/>
          <p:cNvSpPr/>
          <p:nvPr/>
        </p:nvSpPr>
        <p:spPr>
          <a:xfrm>
            <a:off x="8747501" y="0"/>
            <a:ext cx="3444194" cy="3352800"/>
          </a:xfrm>
          <a:prstGeom prst="rect">
            <a:avLst/>
          </a:prstGeom>
          <a:solidFill>
            <a:srgbClr val="F9F7F7"/>
          </a:solidFill>
          <a:ln/>
        </p:spPr>
      </p:sp>
      <p:sp>
        <p:nvSpPr>
          <p:cNvPr id="9" name="Text 7"/>
          <p:cNvSpPr/>
          <p:nvPr/>
        </p:nvSpPr>
        <p:spPr>
          <a:xfrm>
            <a:off x="9407885" y="665798"/>
            <a:ext cx="2123427"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Gemini API</a:t>
            </a:r>
            <a:endParaRPr lang="en-US" sz="1600" dirty="0"/>
          </a:p>
        </p:txBody>
      </p:sp>
      <p:sp>
        <p:nvSpPr>
          <p:cNvPr id="10" name="Text 8"/>
          <p:cNvSpPr/>
          <p:nvPr/>
        </p:nvSpPr>
        <p:spPr>
          <a:xfrm>
            <a:off x="9407885" y="1048345"/>
            <a:ext cx="2123427"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Connects the Saathi chatbot application to Gemma.</a:t>
            </a:r>
            <a:endParaRPr lang="en-US" sz="1350" dirty="0"/>
          </a:p>
        </p:txBody>
      </p:sp>
      <p:sp>
        <p:nvSpPr>
          <p:cNvPr id="11" name="Shape 9"/>
          <p:cNvSpPr/>
          <p:nvPr/>
        </p:nvSpPr>
        <p:spPr>
          <a:xfrm>
            <a:off x="5150912" y="3505200"/>
            <a:ext cx="3444194" cy="3352800"/>
          </a:xfrm>
          <a:prstGeom prst="rect">
            <a:avLst/>
          </a:prstGeom>
          <a:solidFill>
            <a:srgbClr val="F9F7F7"/>
          </a:solidFill>
          <a:ln/>
        </p:spPr>
      </p:sp>
      <p:sp>
        <p:nvSpPr>
          <p:cNvPr id="12" name="Text 10"/>
          <p:cNvSpPr/>
          <p:nvPr/>
        </p:nvSpPr>
        <p:spPr>
          <a:xfrm>
            <a:off x="5811295" y="4170998"/>
            <a:ext cx="2123427"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API key</a:t>
            </a:r>
            <a:endParaRPr lang="en-US" sz="1600" dirty="0"/>
          </a:p>
        </p:txBody>
      </p:sp>
      <p:sp>
        <p:nvSpPr>
          <p:cNvPr id="13" name="Text 11"/>
          <p:cNvSpPr/>
          <p:nvPr/>
        </p:nvSpPr>
        <p:spPr>
          <a:xfrm>
            <a:off x="5811295" y="4553545"/>
            <a:ext cx="2123427"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A private key that proves the app is allowed to call the API.</a:t>
            </a:r>
            <a:endParaRPr lang="en-US" sz="1350" dirty="0"/>
          </a:p>
        </p:txBody>
      </p:sp>
      <p:sp>
        <p:nvSpPr>
          <p:cNvPr id="14" name="Shape 12"/>
          <p:cNvSpPr/>
          <p:nvPr/>
        </p:nvSpPr>
        <p:spPr>
          <a:xfrm>
            <a:off x="8747501" y="3505200"/>
            <a:ext cx="3444194" cy="3352800"/>
          </a:xfrm>
          <a:prstGeom prst="rect">
            <a:avLst/>
          </a:prstGeom>
          <a:solidFill>
            <a:srgbClr val="F9F7F7"/>
          </a:solidFill>
          <a:ln/>
        </p:spPr>
      </p:sp>
      <p:sp>
        <p:nvSpPr>
          <p:cNvPr id="15" name="Text 13"/>
          <p:cNvSpPr/>
          <p:nvPr/>
        </p:nvSpPr>
        <p:spPr>
          <a:xfrm>
            <a:off x="9407885" y="4170998"/>
            <a:ext cx="2123427" cy="264120"/>
          </a:xfrm>
          <a:prstGeom prst="rect">
            <a:avLst/>
          </a:prstGeom>
          <a:noFill/>
          <a:ln/>
        </p:spPr>
        <p:txBody>
          <a:bodyPr wrap="none" lIns="0" tIns="0" rIns="0" bIns="0" rtlCol="0" anchor="t"/>
          <a:lstStyle/>
          <a:p>
            <a:pPr algn="l" indent="0" marL="0">
              <a:lnSpc>
                <a:spcPct val="108000"/>
              </a:lnSpc>
              <a:buNone/>
            </a:pPr>
            <a:r>
              <a:rPr lang="en-US" sz="1600" dirty="0">
                <a:solidFill>
                  <a:srgbClr val="1B1B1A"/>
                </a:solidFill>
                <a:latin typeface="Host Grotesk Medium" pitchFamily="34" charset="0"/>
                <a:ea typeface="Host Grotesk Medium" pitchFamily="34" charset="-122"/>
                <a:cs typeface="Host Grotesk Medium" pitchFamily="34" charset="0"/>
              </a:rPr>
              <a:t>Keep it private</a:t>
            </a:r>
            <a:endParaRPr lang="en-US" sz="1600" dirty="0"/>
          </a:p>
        </p:txBody>
      </p:sp>
      <p:sp>
        <p:nvSpPr>
          <p:cNvPr id="16" name="Text 14"/>
          <p:cNvSpPr/>
          <p:nvPr/>
        </p:nvSpPr>
        <p:spPr>
          <a:xfrm>
            <a:off x="9407885" y="4553545"/>
            <a:ext cx="2123427" cy="745629"/>
          </a:xfrm>
          <a:prstGeom prst="rect">
            <a:avLst/>
          </a:prstGeom>
          <a:noFill/>
          <a:ln/>
        </p:spPr>
        <p:txBody>
          <a:bodyPr wrap="square" lIns="0" tIns="0" rIns="0" bIns="0" rtlCol="0" anchor="t">
            <a:normAutofit/>
          </a:bodyPr>
          <a:lstStyle/>
          <a:p>
            <a:pPr algn="l" indent="0" marL="0">
              <a:lnSpc>
                <a:spcPct val="121000"/>
              </a:lnSpc>
              <a:buNone/>
            </a:pPr>
            <a:r>
              <a:rPr lang="en-US" sz="1350" dirty="0">
                <a:solidFill>
                  <a:srgbClr val="1B1B1A"/>
                </a:solidFill>
                <a:latin typeface="Host Grotesk" pitchFamily="34" charset="0"/>
                <a:ea typeface="Host Grotesk" pitchFamily="34" charset="-122"/>
                <a:cs typeface="Host Grotesk" pitchFamily="34" charset="0"/>
              </a:rPr>
              <a:t>Never share or post the key; anyone with it can use your access.</a:t>
            </a:r>
            <a:endParaRPr lang="en-US" sz="1350" dirty="0"/>
          </a:p>
        </p:txBody>
      </p:sp>
      <p:sp>
        <p:nvSpPr>
          <p:cNvPr id="17" name="Text 15"/>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07</a:t>
            </a:r>
            <a:endParaRPr lang="en-US" sz="1000" dirty="0"/>
          </a:p>
        </p:txBody>
      </p:sp>
      <p:sp>
        <p:nvSpPr>
          <p:cNvPr id="18" name="Text 16"/>
          <p:cNvSpPr/>
          <p:nvPr/>
        </p:nvSpPr>
        <p:spPr>
          <a:xfrm>
            <a:off x="9620803" y="6473825"/>
            <a:ext cx="2570892"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0383" y="2877016"/>
            <a:ext cx="10870928" cy="746720"/>
          </a:xfrm>
          <a:prstGeom prst="rect">
            <a:avLst/>
          </a:prstGeom>
          <a:noFill/>
          <a:ln/>
        </p:spPr>
        <p:txBody>
          <a:bodyPr wrap="none" lIns="0" tIns="0" rIns="0" bIns="0" rtlCol="0" anchor="t"/>
          <a:lstStyle/>
          <a:p>
            <a:pPr algn="l" indent="0" marL="0">
              <a:lnSpc>
                <a:spcPct val="87000"/>
              </a:lnSpc>
              <a:buNone/>
            </a:pPr>
            <a:r>
              <a:rPr lang="en-US" sz="5600" spc="-112" kern="100" dirty="0">
                <a:solidFill>
                  <a:srgbClr val="1B1B1A"/>
                </a:solidFill>
                <a:latin typeface="Albert Sans Light" pitchFamily="34" charset="0"/>
                <a:ea typeface="Albert Sans Light" pitchFamily="34" charset="-122"/>
                <a:cs typeface="Albert Sans Light" pitchFamily="34" charset="0"/>
              </a:rPr>
              <a:t>Thank You</a:t>
            </a:r>
            <a:endParaRPr lang="en-US" sz="5600" dirty="0"/>
          </a:p>
        </p:txBody>
      </p:sp>
      <p:sp>
        <p:nvSpPr>
          <p:cNvPr id="3" name="Text 1"/>
          <p:cNvSpPr/>
          <p:nvPr/>
        </p:nvSpPr>
        <p:spPr>
          <a:xfrm>
            <a:off x="660383" y="3740745"/>
            <a:ext cx="11480513" cy="294580"/>
          </a:xfrm>
          <a:prstGeom prst="rect">
            <a:avLst/>
          </a:prstGeom>
          <a:noFill/>
          <a:ln/>
        </p:spPr>
        <p:txBody>
          <a:bodyPr wrap="none" lIns="0" tIns="0" rIns="0" bIns="0" rtlCol="0" anchor="t"/>
          <a:lstStyle/>
          <a:p>
            <a:pPr algn="l" indent="0" marL="0">
              <a:lnSpc>
                <a:spcPct val="121000"/>
              </a:lnSpc>
              <a:buNone/>
            </a:pPr>
            <a:r>
              <a:rPr lang="en-US" sz="1600" dirty="0">
                <a:solidFill>
                  <a:srgbClr val="1B1B1A"/>
                </a:solidFill>
                <a:latin typeface="Host Grotesk" pitchFamily="34" charset="0"/>
                <a:ea typeface="Host Grotesk" pitchFamily="34" charset="-122"/>
                <a:cs typeface="Host Grotesk" pitchFamily="34" charset="0"/>
              </a:rPr>
              <a:t>Questions and feedback are welcome.</a:t>
            </a:r>
            <a:endParaRPr lang="en-US" sz="1600" dirty="0"/>
          </a:p>
        </p:txBody>
      </p:sp>
      <p:sp>
        <p:nvSpPr>
          <p:cNvPr id="4" name="Text 2"/>
          <p:cNvSpPr/>
          <p:nvPr/>
        </p:nvSpPr>
        <p:spPr>
          <a:xfrm>
            <a:off x="181566" y="6473825"/>
            <a:ext cx="774681"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08</a:t>
            </a:r>
            <a:endParaRPr lang="en-US" sz="1000" dirty="0"/>
          </a:p>
        </p:txBody>
      </p:sp>
      <p:sp>
        <p:nvSpPr>
          <p:cNvPr id="5" name="Text 3"/>
          <p:cNvSpPr/>
          <p:nvPr/>
        </p:nvSpPr>
        <p:spPr>
          <a:xfrm>
            <a:off x="9620803" y="6473825"/>
            <a:ext cx="2570892" cy="184150"/>
          </a:xfrm>
          <a:prstGeom prst="rect">
            <a:avLst/>
          </a:prstGeom>
          <a:noFill/>
          <a:ln/>
        </p:spPr>
        <p:txBody>
          <a:bodyPr wrap="none" lIns="0" tIns="0" rIns="0" bIns="0" rtlCol="0" anchor="ctr"/>
          <a:lstStyle/>
          <a:p>
            <a:pPr algn="l" indent="0" marL="0">
              <a:lnSpc>
                <a:spcPct val="121000"/>
              </a:lnSpc>
              <a:buNone/>
            </a:pPr>
            <a:r>
              <a:rPr lang="en-US" sz="1000" dirty="0">
                <a:solidFill>
                  <a:srgbClr val="1B1B1A"/>
                </a:solidFill>
                <a:latin typeface="Host Grotesk" pitchFamily="34" charset="0"/>
                <a:ea typeface="Host Grotesk" pitchFamily="34" charset="-122"/>
                <a:cs typeface="Host Grotesk" pitchFamily="34" charset="0"/>
              </a:rPr>
              <a:t>Meet Saathi: the everyday shop assistant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2026-10-24T04:19:59Z</dcterms:created>
  <dcterms:modified xsi:type="dcterms:W3CDTF">2026-10-24T04:19:59Z</dcterms:modified>
</cp:coreProperties>
</file>